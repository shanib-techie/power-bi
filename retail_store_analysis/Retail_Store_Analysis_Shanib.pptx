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FA9A8F-7D3B-4140-8069-7574D7F319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A95D80-A436-4093-809F-35A4C035DB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631384-562B-4C9F-9172-F4E354F816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C6FEF-D9BA-4E84-A6FC-BB2642AFD3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656963-644F-4EB4-A3FF-703262C24E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19C77A-3EAF-440C-B4BD-066AB52C01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034F33-D02B-425A-B78F-D602486F94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35EAB-B22A-4982-B84A-FC4728FEBA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8ED21-B1AA-41A0-B3F0-6DF85CD006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822CF2-009F-40FE-B322-1E65D95B7B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BD4565-76A8-491E-8F82-A2B1F1DCE1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2011680"/>
            <a:ext cx="9143640" cy="727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4572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Retail Store Transaction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1430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Dataset Analysis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2402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Data Analysis and Visualization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697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Semester 4th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2286000" y="3291840"/>
            <a:ext cx="4571640" cy="12798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2468880" y="3401640"/>
            <a:ext cx="4205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Name: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Shanib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Roll No: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CSC/24/42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Subject: 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Analysis &amp; Visualization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Dataset Overview — Loading &amp; Cleaning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274320" y="777240"/>
            <a:ext cx="5028840" cy="210276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365760" y="850320"/>
            <a:ext cx="4845960" cy="19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import pandas as pd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import matplotlib.pyplot as plt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df = pd.read_excel("Retail-Store-Transactions.xlsx")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df.drop(columns=["Unnamed: 17"], inplace=True)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df = df.loc[:, ~df.columns.str.contains("^Unnamed")]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print(df.head(4))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5486400" y="777240"/>
            <a:ext cx="3382920" cy="21027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5577840" y="822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94560"/>
                </a:solidFill>
                <a:effectLst/>
                <a:uFillTx/>
                <a:latin typeface="Courier New"/>
                <a:ea typeface="Courier New"/>
              </a:rPr>
              <a:t>Output: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5577840" y="1143000"/>
            <a:ext cx="32000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time StoreID Location Product  Qty  PaymentType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0  15:29     S3  Store C  Tablet    3    Gift Card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1  16:53     S1  Store B Printer    9       Online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2  21:22     S9  Store B  Laptop    9   Debit Card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3  14:28     S9  Store C Monitor    7       Online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274320" y="3017520"/>
            <a:ext cx="4205880" cy="164556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411480" y="30906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Columns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411480" y="3429000"/>
            <a:ext cx="3931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time, StoreID, Location,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Product, Quantity,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PaymentType, Cashier,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StoreManager, TotalPrice...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4846320" y="3017520"/>
            <a:ext cx="4205880" cy="164556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4983480" y="30906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Rows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4983480" y="3429000"/>
            <a:ext cx="3931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199 transactions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across 4 stores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Exploratory Analysis — Value Counts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274320" y="777240"/>
            <a:ext cx="8595000" cy="15541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365760" y="850320"/>
            <a:ext cx="841212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print("Product counts:", df["Product"].value_counts())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print("Unique products:", df["Product"].unique())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print("Location counts:", df["Location"].value_counts())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print("Store Manager counts:", df["StoreManager"].value_counts())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print("Cashier counts:", df["Cashier"].value_counts())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274320" y="251460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411480" y="2606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Products (7)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11480" y="29260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Phone: 38 | Desk: 31 | Monitor: 30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Printer: 29 | Laptop: 28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Chair: 25 | Tablet: 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4709160" y="251460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4846320" y="2606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Locations (4)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4846320" y="29260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C: 64 | Store D: 54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B: 41 | Store A: 40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274320" y="388620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411480" y="3977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Store Managers (4)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411480" y="42976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Noah: 53 | Olivia: 53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Mia: 47 | Liam: 46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4709160" y="388620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4846320" y="3977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Cashiers (5)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4846320" y="42976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C1: 45 | C5: 42 | C2: 39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C4: 38 | C3: 35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Revenue Analysis — By Location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274320" y="777240"/>
            <a:ext cx="4754520" cy="228564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365760" y="850320"/>
            <a:ext cx="4571640" cy="21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r_from_d = df[df["Location"] == "Store D"]["TotalPrice"].sum()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print("Revenue from Store D:", r_from_d)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r_each_l = df.groupby("Location")["TotalPrice"].sum()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print("Revenue from each location:", r_each_l)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# Bar chart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r_each_l_graph = df.groupby("Location")["TotalPrice"].sum()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r_each_l_graph.plot(kind="bar")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212080" y="822960"/>
            <a:ext cx="1737000" cy="95976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5303520" y="8960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5303520" y="12618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₹36,979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7086600" y="822960"/>
            <a:ext cx="1737000" cy="95976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7178040" y="8960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7178040" y="12618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₹46,201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5212080" y="1920240"/>
            <a:ext cx="1737000" cy="959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5303520" y="19933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5303520" y="235908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₹82,530 🏆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7086600" y="1920240"/>
            <a:ext cx="1737000" cy="95976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7178040" y="19933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7178040" y="235908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₹54,490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5212080" y="3063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Total Revenue: ₹2,20,200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274320" y="3200400"/>
            <a:ext cx="2697480" cy="16455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457200" y="32734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94560"/>
                </a:solidFill>
                <a:effectLst/>
                <a:uFillTx/>
                <a:latin typeface="Courier New"/>
                <a:ea typeface="Courier New"/>
              </a:rPr>
              <a:t>Output: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457200" y="356616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Revenue from Store D: 54490.08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Location | Store A: 36979.24 |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Store B: 46201.25 |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Store C: 82529.80 |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Store D: 54490.08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274320" y="3200400"/>
            <a:ext cx="4754880" cy="194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5257800" y="3024000"/>
            <a:ext cx="3657600" cy="212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Revenue Analysis — By Product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274320" y="777240"/>
            <a:ext cx="4937400" cy="191988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365760" y="850320"/>
            <a:ext cx="4754520" cy="17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tablet_rev  = df[df["Product"]=="Tablet"]["TotalPrice"].sum()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printer_rev = df[df["Product"]=="Printer"]["TotalPrice"].sum()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phone_rev   = df[df["Product"]=="Phone"]["TotalPrice"].sum()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# ... (similar for all products)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r_each_p = df.groupby("Product")["TotalPrice"].sum()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print("Revenue per product:", r_each_p)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5394960" y="804600"/>
            <a:ext cx="1691280" cy="822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5440680" y="85968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Chair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5440680" y="115200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₹15,525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7269480" y="804600"/>
            <a:ext cx="1691280" cy="822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7315200" y="85968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7315200" y="115200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₹39,519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5394960" y="1764720"/>
            <a:ext cx="1691280" cy="822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5440680" y="181980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Laptop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5440680" y="21121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₹34,614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7269480" y="1764720"/>
            <a:ext cx="1691280" cy="822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7315200" y="181980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7315200" y="21121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₹39,150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5394960" y="2724840"/>
            <a:ext cx="1691280" cy="822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5440680" y="27799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Phone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5440680" y="307224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₹39,973 🏆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7269480" y="2724840"/>
            <a:ext cx="1691280" cy="822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7315200" y="277992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Printer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7315200" y="307224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₹37,267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6309360" y="3684960"/>
            <a:ext cx="1691280" cy="8226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6355080" y="3740040"/>
            <a:ext cx="1599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Tablet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6355080" y="403236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₹14,154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5"/>
          <p:cNvSpPr/>
          <p:nvPr/>
        </p:nvSpPr>
        <p:spPr>
          <a:xfrm>
            <a:off x="274320" y="2880360"/>
            <a:ext cx="4754520" cy="2011320"/>
          </a:xfrm>
          <a:prstGeom prst="rect">
            <a:avLst/>
          </a:prstGeom>
          <a:solidFill>
            <a:srgbClr val="16213E"/>
          </a:solidFill>
          <a:ln w="1270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6"/>
          <p:cNvSpPr/>
          <p:nvPr/>
        </p:nvSpPr>
        <p:spPr>
          <a:xfrm>
            <a:off x="457200" y="2944440"/>
            <a:ext cx="438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94560"/>
                </a:solidFill>
                <a:effectLst/>
                <a:uFillTx/>
                <a:latin typeface="Courier New"/>
                <a:ea typeface="Courier New"/>
              </a:rPr>
              <a:t>Output: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457200" y="3227760"/>
            <a:ext cx="43887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Product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Chair    15524.54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Desk     39519.04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Laptop   34613.89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Monitor  39149.59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Phone    39972.89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Printer  37266.78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Tablet   14153.64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Revenue — Location × Product Breakdown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274320" y="777240"/>
            <a:ext cx="8595000" cy="82260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365760" y="850320"/>
            <a:ext cx="84121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revenue = df.groupby(["Location", "Product"])["TotalPrice"].sum()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print("Revenue per location per product:", revenue)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Table 0"/>
          <p:cNvGraphicFramePr/>
          <p:nvPr/>
        </p:nvGraphicFramePr>
        <p:xfrm>
          <a:off x="4572000" y="2057400"/>
          <a:ext cx="4296600" cy="2833920"/>
        </p:xfrm>
        <a:graphic>
          <a:graphicData uri="http://schemas.openxmlformats.org/drawingml/2006/table">
            <a:tbl>
              <a:tblPr/>
              <a:tblGrid>
                <a:gridCol w="823320"/>
                <a:gridCol w="503280"/>
                <a:gridCol w="503280"/>
                <a:gridCol w="503280"/>
                <a:gridCol w="503280"/>
                <a:gridCol w="503280"/>
                <a:gridCol w="503280"/>
                <a:gridCol w="453600"/>
              </a:tblGrid>
              <a:tr h="56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Location / Product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Chair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Desk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Laptop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Monitor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Phone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Printer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Tablet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</a:tr>
              <a:tr h="56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Store A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2858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8818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2583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7547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7011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4772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3391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</a:tr>
              <a:tr h="56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Store B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2747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3854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8416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14162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8600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8386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36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</a:tr>
              <a:tr h="567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Store C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4272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14914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18784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12182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15129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11274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5975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</a:tr>
              <a:tr h="566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Store D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5647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11933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4832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5259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9233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12835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4752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</a:tr>
            </a:tbl>
          </a:graphicData>
        </a:graphic>
      </p:graphicFrame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0" y="685800"/>
            <a:ext cx="914364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/>
          <p:cNvPicPr/>
          <p:nvPr/>
        </p:nvPicPr>
        <p:blipFill>
          <a:blip r:embed="rId2"/>
          <a:stretch/>
        </p:blipFill>
        <p:spPr>
          <a:xfrm>
            <a:off x="0" y="2057400"/>
            <a:ext cx="4572000" cy="308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6. Payment Type Analysis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274320" y="777240"/>
            <a:ext cx="4845960" cy="274284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365760" y="850320"/>
            <a:ext cx="466308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print("Payment types:", df["PaymentType"].unique())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print("Count per type:", df["PaymentType"].value_counts())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loc_pay = df.groupby(["Location","PaymentType"])["TotalPrice"].sum()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print(loc_pay)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loc_pay_cnt = df.groupby(["Location","PaymentType"]).size()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loc_pay_cnt.unstack().plot(kind="bar")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plt.ylabel("Count of Payment Type")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plt.title("Payment Type Count per Store")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plt.show()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5303520" y="841320"/>
            <a:ext cx="3657240" cy="411120"/>
          </a:xfrm>
          <a:prstGeom prst="rect">
            <a:avLst/>
          </a:prstGeom>
          <a:solidFill>
            <a:srgbClr val="16213E"/>
          </a:solidFill>
          <a:ln w="635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5303520" y="841320"/>
            <a:ext cx="109440" cy="4111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5486400" y="9054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Gift Card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7772400" y="9054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5303520" y="1344240"/>
            <a:ext cx="3657240" cy="411120"/>
          </a:xfrm>
          <a:prstGeom prst="rect">
            <a:avLst/>
          </a:prstGeom>
          <a:solidFill>
            <a:srgbClr val="16213E"/>
          </a:solidFill>
          <a:ln w="635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5303520" y="1344240"/>
            <a:ext cx="109440" cy="41112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5486400" y="14083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Debit Card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7772400" y="14083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5303520" y="1847160"/>
            <a:ext cx="3657240" cy="411120"/>
          </a:xfrm>
          <a:prstGeom prst="rect">
            <a:avLst/>
          </a:prstGeom>
          <a:solidFill>
            <a:srgbClr val="16213E"/>
          </a:solidFill>
          <a:ln w="635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5303520" y="1847160"/>
            <a:ext cx="109440" cy="4111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5486400" y="19112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Credit Card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7772400" y="19112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5303520" y="2350080"/>
            <a:ext cx="3657240" cy="411120"/>
          </a:xfrm>
          <a:prstGeom prst="rect">
            <a:avLst/>
          </a:prstGeom>
          <a:solidFill>
            <a:srgbClr val="16213E"/>
          </a:solidFill>
          <a:ln w="635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5303520" y="2350080"/>
            <a:ext cx="109440" cy="4111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5486400" y="24141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Online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7772400" y="24141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0"/>
          <p:cNvSpPr/>
          <p:nvPr/>
        </p:nvSpPr>
        <p:spPr>
          <a:xfrm>
            <a:off x="5303520" y="2853000"/>
            <a:ext cx="3657240" cy="411120"/>
          </a:xfrm>
          <a:prstGeom prst="rect">
            <a:avLst/>
          </a:prstGeom>
          <a:solidFill>
            <a:srgbClr val="16213E"/>
          </a:solidFill>
          <a:ln w="635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5303520" y="2853000"/>
            <a:ext cx="109440" cy="4111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5486400" y="29170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3"/>
          <p:cNvSpPr/>
          <p:nvPr/>
        </p:nvSpPr>
        <p:spPr>
          <a:xfrm>
            <a:off x="7772400" y="291708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4"/>
          <p:cNvSpPr/>
          <p:nvPr/>
        </p:nvSpPr>
        <p:spPr>
          <a:xfrm>
            <a:off x="5303520" y="3566160"/>
            <a:ext cx="3657240" cy="1371240"/>
          </a:xfrm>
          <a:prstGeom prst="rect">
            <a:avLst/>
          </a:prstGeom>
          <a:solidFill>
            <a:srgbClr val="16213E"/>
          </a:solidFill>
          <a:ln w="1270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5"/>
          <p:cNvSpPr/>
          <p:nvPr/>
        </p:nvSpPr>
        <p:spPr>
          <a:xfrm>
            <a:off x="5394960" y="3639240"/>
            <a:ext cx="34743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Bar chart plotted: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Payment Type Count per Store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(grouped bar showing each payment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method across all 4 locations)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"/>
          <p:cNvPicPr/>
          <p:nvPr/>
        </p:nvPicPr>
        <p:blipFill>
          <a:blip r:embed="rId1"/>
          <a:stretch/>
        </p:blipFill>
        <p:spPr>
          <a:xfrm>
            <a:off x="123120" y="797400"/>
            <a:ext cx="4997160" cy="423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7. Store Manager Analysis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274320" y="777240"/>
            <a:ext cx="4845960" cy="283428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365760" y="850320"/>
            <a:ext cx="4663080" cy="26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storemanager_names = df["StoreManager"].unique()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print("COUNT:", len(storemanager_names))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val_of_each = df["StoreManager"].value_counts()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grp_cashier_mgr = df.groupby(["Cashier","StoreManager"]).size()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print(grp_cashier_mgr)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# Bar chart: cashier vs manager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grp.unstack().plot(kind="bar")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plt.title("Cashier group with manager")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plt.ylabel("Count of cashier with different store manager")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plt.show()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5303520" y="822960"/>
            <a:ext cx="3657240" cy="8683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5440680" y="8870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Noah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5440680" y="12344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53 transactions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7223760" y="105156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₹59,357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303520" y="1828800"/>
            <a:ext cx="3657240" cy="8683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5440680" y="18928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Olivia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440680" y="22402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53 transactions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7223760" y="205740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₹53,575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5303520" y="2834640"/>
            <a:ext cx="3657240" cy="8683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5440680" y="28987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Mia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440680" y="3246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47 transactions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7223760" y="30632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₹55,876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5303520" y="3840480"/>
            <a:ext cx="3657240" cy="8683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5440680" y="39045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Liam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5440680" y="4251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46 transactions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7223760" y="406908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₹51,393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0" y="790920"/>
            <a:ext cx="5120280" cy="355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 Summary Statistics &amp; Pivot Table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274320" y="777240"/>
            <a:ext cx="4845960" cy="301716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365760" y="850320"/>
            <a:ext cx="4663080" cy="28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summary = df.groupby("StoreManager").agg(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Total_Sales=("TotalPrice", "sum"),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Avg_Sale=("TotalPrice", "mean"),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Number_of_Transactions=("TotalPrice", "count")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pivot = df.pivot_table(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index="StoreManager",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columns="Product",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values="TotalPrice",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aggfunc="sum",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margins=True,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  margins_name="Total_All_Products"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print(summary)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print(pivot)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Table 0"/>
          <p:cNvGraphicFramePr/>
          <p:nvPr/>
        </p:nvGraphicFramePr>
        <p:xfrm>
          <a:off x="5303520" y="822960"/>
          <a:ext cx="3657240" cy="22860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1005840"/>
                <a:gridCol w="5486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Manager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Total Sales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Avg Sale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# Txns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E9456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Liam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51392.69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1117.23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46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Mia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55876.13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1188.85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47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Noah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59356.69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1119.94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53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Olivia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53574.86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1010.85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53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4A5568"/>
                      </a:solidFill>
                      <a:prstDash val="solid"/>
                    </a:lnL>
                    <a:lnR w="6480">
                      <a:solidFill>
                        <a:srgbClr val="4A5568"/>
                      </a:solidFill>
                      <a:prstDash val="solid"/>
                    </a:lnR>
                    <a:lnT w="6480">
                      <a:solidFill>
                        <a:srgbClr val="4A5568"/>
                      </a:solidFill>
                      <a:prstDash val="solid"/>
                    </a:lnT>
                    <a:lnB w="6480">
                      <a:solidFill>
                        <a:srgbClr val="4A5568"/>
                      </a:solidFill>
                      <a:prstDash val="solid"/>
                    </a:lnB>
                    <a:solidFill>
                      <a:srgbClr val="1A2940"/>
                    </a:solidFill>
                  </a:tcPr>
                </a:tc>
              </a:tr>
            </a:tbl>
          </a:graphicData>
        </a:graphic>
      </p:graphicFrame>
      <p:sp>
        <p:nvSpPr>
          <p:cNvPr id="157" name="Shape 4"/>
          <p:cNvSpPr/>
          <p:nvPr/>
        </p:nvSpPr>
        <p:spPr>
          <a:xfrm>
            <a:off x="5303520" y="3246120"/>
            <a:ext cx="3657240" cy="1645560"/>
          </a:xfrm>
          <a:prstGeom prst="rect">
            <a:avLst/>
          </a:prstGeom>
          <a:solidFill>
            <a:srgbClr val="16213E"/>
          </a:solidFill>
          <a:ln w="12700">
            <a:solidFill>
              <a:srgbClr val="4A55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5440680" y="3337560"/>
            <a:ext cx="33829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Pie chart (store manager sales)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and bar charts generated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showing distribution of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8B2D8"/>
                </a:solidFill>
                <a:effectLst/>
                <a:uFillTx/>
                <a:latin typeface="Calibri"/>
                <a:ea typeface="Calibri"/>
              </a:rPr>
              <a:t>revenue across managers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"/>
          <p:cNvPicPr/>
          <p:nvPr/>
        </p:nvPicPr>
        <p:blipFill>
          <a:blip r:embed="rId1"/>
          <a:stretch/>
        </p:blipFill>
        <p:spPr>
          <a:xfrm>
            <a:off x="228600" y="800280"/>
            <a:ext cx="4891680" cy="400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274320" y="73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Insights &amp; Summary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274320" y="82296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914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🏪 Top Location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411480" y="12801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Store C generated highest revenue (₹82,530) — 37.5% of total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4709160" y="82296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4846320" y="914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📦 Top Product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4846320" y="12801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Phone had highest revenue (₹39,973); Tablet was lowest (₹14,154)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274320" y="219456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411480" y="22860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💳 Payment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411480" y="26517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Gift Card was most popular (49 uses); Cash was least used (29)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4709160" y="219456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4846320" y="22860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👨‍💼 Top Manager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4846320" y="26517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Noah led in transactions (53) with ₹59,357 total revenue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274320" y="356616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411480" y="36576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🧾 Total Revenue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411480" y="40233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₹2,20,200 across 199 transactions from 4 stores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4709160" y="3566160"/>
            <a:ext cx="4114440" cy="1234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4846320" y="36576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94560"/>
                </a:solidFill>
                <a:effectLst/>
                <a:uFillTx/>
                <a:latin typeface="Calibri"/>
                <a:ea typeface="Calibri"/>
              </a:rPr>
              <a:t>🔢 Dataset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4846320" y="4023360"/>
            <a:ext cx="3840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 products, 4 locations, 4 managers, 5 cashiers analyzed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2026-03-30T09:05:33Z</dcterms:created>
  <dc:creator>PptxGenJS</dc:creator>
  <dc:description/>
  <dc:language>en-US</dc:language>
  <cp:lastModifiedBy/>
  <dcterms:modified xsi:type="dcterms:W3CDTF">2026-03-30T15:25:03Z</dcterms:modified>
  <cp:revision>2</cp:revision>
  <dc:subject>PptxGenJS Presentation</dc:subject>
  <dc:title>Retail Store Transaction Dataset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