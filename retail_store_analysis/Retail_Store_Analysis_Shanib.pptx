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E8159DA-FCBD-4AF1-A383-61A5564728B5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E1C7A4C-CD63-422A-8687-114E95481F1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E80FD9-AD21-410B-8043-BAC827C6E0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F77EDA2-B63B-4178-AC4F-9039515774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6828BAA-01F0-4123-BAF3-37D93AC0634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DB8DC9-84E2-4BAB-A408-E5229CFA73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ED07285-989C-44B9-A4C7-78AFA622717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F4A93B-A531-4A0C-91EC-EBFFF6E863D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CF29C0-7AA6-4795-B14E-8A2F3F338E2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677FE1-7A96-46E1-A70A-1B7A314624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4B2C00-BAB7-4362-8E34-54A1BBA725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1A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0" y="2011680"/>
            <a:ext cx="9143280" cy="72360"/>
          </a:xfrm>
          <a:prstGeom prst="rect">
            <a:avLst/>
          </a:prstGeom>
          <a:solidFill>
            <a:srgbClr val="E945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457200" y="457200"/>
            <a:ext cx="82288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Retail Store Transaction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457200" y="1143000"/>
            <a:ext cx="82288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Dataset Analysis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57200" y="2240280"/>
            <a:ext cx="82288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Data Analysis and Visualization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457200" y="2697480"/>
            <a:ext cx="82288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Semester 4th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2286000" y="3291840"/>
            <a:ext cx="4571280" cy="127944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2468880" y="3401640"/>
            <a:ext cx="420552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Name: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Shanib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Roll No: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CSC/24/42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Subject: </a:t>
            </a: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Data Analysis &amp; Visualization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E945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1"/>
          <p:cNvSpPr/>
          <p:nvPr/>
        </p:nvSpPr>
        <p:spPr>
          <a:xfrm>
            <a:off x="274320" y="73080"/>
            <a:ext cx="8594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1. Dataset Overview — Loading &amp; Cleaning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2"/>
          <p:cNvSpPr/>
          <p:nvPr/>
        </p:nvSpPr>
        <p:spPr>
          <a:xfrm>
            <a:off x="274320" y="777240"/>
            <a:ext cx="5028480" cy="2102400"/>
          </a:xfrm>
          <a:prstGeom prst="rect">
            <a:avLst/>
          </a:prstGeom>
          <a:solidFill>
            <a:srgbClr val="0F34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365760" y="850320"/>
            <a:ext cx="4845600" cy="195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import pandas as pd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import matplotlib.pyplot as plt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df = pd.read_excel("Retail-Store-Transactions.xlsx")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df.drop(columns=["Unnamed: 17"], inplace=True)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df = df.loc[:, ~df.columns.str.contains("^Unnamed")]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print(df.head(4))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Shape 4"/>
          <p:cNvSpPr/>
          <p:nvPr/>
        </p:nvSpPr>
        <p:spPr>
          <a:xfrm>
            <a:off x="5486400" y="777240"/>
            <a:ext cx="3382560" cy="2102400"/>
          </a:xfrm>
          <a:prstGeom prst="rect">
            <a:avLst/>
          </a:prstGeom>
          <a:solidFill>
            <a:srgbClr val="16213E"/>
          </a:solidFill>
          <a:ln w="1270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5"/>
          <p:cNvSpPr/>
          <p:nvPr/>
        </p:nvSpPr>
        <p:spPr>
          <a:xfrm>
            <a:off x="5577840" y="822960"/>
            <a:ext cx="31996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94560"/>
                </a:solidFill>
                <a:effectLst/>
                <a:uFillTx/>
                <a:latin typeface="Courier New"/>
                <a:ea typeface="Courier New"/>
              </a:rPr>
              <a:t>Output: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6"/>
          <p:cNvSpPr/>
          <p:nvPr/>
        </p:nvSpPr>
        <p:spPr>
          <a:xfrm>
            <a:off x="5577840" y="1143000"/>
            <a:ext cx="3199680" cy="15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   time StoreID Location Product  Qty  PaymentType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0  15:29     S3  Store C  Tablet    3    Gift Card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1  16:53     S1  Store B Printer    9       Online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2  21:22     S9  Store B  Laptop    9   Debit Card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3  14:28     S9  Store C Monitor    7       Online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7"/>
          <p:cNvSpPr/>
          <p:nvPr/>
        </p:nvSpPr>
        <p:spPr>
          <a:xfrm>
            <a:off x="274320" y="3017520"/>
            <a:ext cx="4205520" cy="164520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8"/>
          <p:cNvSpPr/>
          <p:nvPr/>
        </p:nvSpPr>
        <p:spPr>
          <a:xfrm>
            <a:off x="411480" y="309060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Columns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9"/>
          <p:cNvSpPr/>
          <p:nvPr/>
        </p:nvSpPr>
        <p:spPr>
          <a:xfrm>
            <a:off x="411480" y="3429000"/>
            <a:ext cx="393120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time, StoreID, Location,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Product, Quantity,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PaymentType, Cashier,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StoreManager, TotalPrice...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Shape 10"/>
          <p:cNvSpPr/>
          <p:nvPr/>
        </p:nvSpPr>
        <p:spPr>
          <a:xfrm>
            <a:off x="4846320" y="3017520"/>
            <a:ext cx="4205520" cy="164520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11"/>
          <p:cNvSpPr/>
          <p:nvPr/>
        </p:nvSpPr>
        <p:spPr>
          <a:xfrm>
            <a:off x="4983480" y="3090600"/>
            <a:ext cx="3931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Rows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2"/>
          <p:cNvSpPr/>
          <p:nvPr/>
        </p:nvSpPr>
        <p:spPr>
          <a:xfrm>
            <a:off x="4983480" y="3429000"/>
            <a:ext cx="393120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199 transactions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across 4 stores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E945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"/>
          <p:cNvSpPr/>
          <p:nvPr/>
        </p:nvSpPr>
        <p:spPr>
          <a:xfrm>
            <a:off x="274320" y="73080"/>
            <a:ext cx="8594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2. Exploratory Analysis — Value Counts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2"/>
          <p:cNvSpPr/>
          <p:nvPr/>
        </p:nvSpPr>
        <p:spPr>
          <a:xfrm>
            <a:off x="274320" y="777240"/>
            <a:ext cx="8594640" cy="1553760"/>
          </a:xfrm>
          <a:prstGeom prst="rect">
            <a:avLst/>
          </a:prstGeom>
          <a:solidFill>
            <a:srgbClr val="0F34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3"/>
          <p:cNvSpPr/>
          <p:nvPr/>
        </p:nvSpPr>
        <p:spPr>
          <a:xfrm>
            <a:off x="365760" y="850320"/>
            <a:ext cx="8411760" cy="14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print("Product counts:", df["Product"].value_counts())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print("Unique products:", df["Product"].unique())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print("Location counts:", df["Location"].value_counts())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print("Store Manager counts:", df["StoreManager"].value_counts())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print("Cashier counts:", df["Cashier"].value_counts())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4"/>
          <p:cNvSpPr/>
          <p:nvPr/>
        </p:nvSpPr>
        <p:spPr>
          <a:xfrm>
            <a:off x="274320" y="2514600"/>
            <a:ext cx="4114080" cy="123372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5"/>
          <p:cNvSpPr/>
          <p:nvPr/>
        </p:nvSpPr>
        <p:spPr>
          <a:xfrm>
            <a:off x="411480" y="260604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Products (7)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6"/>
          <p:cNvSpPr/>
          <p:nvPr/>
        </p:nvSpPr>
        <p:spPr>
          <a:xfrm>
            <a:off x="411480" y="2926080"/>
            <a:ext cx="38397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Phone: 38 | Desk: 31 | Monitor: 30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Printer: 29 | Laptop: 28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Chair: 25 | Tablet: 18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7"/>
          <p:cNvSpPr/>
          <p:nvPr/>
        </p:nvSpPr>
        <p:spPr>
          <a:xfrm>
            <a:off x="4709160" y="2514600"/>
            <a:ext cx="4114080" cy="123372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8"/>
          <p:cNvSpPr/>
          <p:nvPr/>
        </p:nvSpPr>
        <p:spPr>
          <a:xfrm>
            <a:off x="4846320" y="260604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Locations (4)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9"/>
          <p:cNvSpPr/>
          <p:nvPr/>
        </p:nvSpPr>
        <p:spPr>
          <a:xfrm>
            <a:off x="4846320" y="2926080"/>
            <a:ext cx="38397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Store C: 64 | Store D: 54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Store B: 41 | Store A: 40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0"/>
          <p:cNvSpPr/>
          <p:nvPr/>
        </p:nvSpPr>
        <p:spPr>
          <a:xfrm>
            <a:off x="274320" y="3886200"/>
            <a:ext cx="4114080" cy="123372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11"/>
          <p:cNvSpPr/>
          <p:nvPr/>
        </p:nvSpPr>
        <p:spPr>
          <a:xfrm>
            <a:off x="411480" y="397764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Store Managers (4)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2"/>
          <p:cNvSpPr/>
          <p:nvPr/>
        </p:nvSpPr>
        <p:spPr>
          <a:xfrm>
            <a:off x="411480" y="4297680"/>
            <a:ext cx="38397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Noah: 53 | Olivia: 53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Mia: 47 | Liam: 46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Shape 13"/>
          <p:cNvSpPr/>
          <p:nvPr/>
        </p:nvSpPr>
        <p:spPr>
          <a:xfrm>
            <a:off x="4709160" y="3886200"/>
            <a:ext cx="4114080" cy="123372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4"/>
          <p:cNvSpPr/>
          <p:nvPr/>
        </p:nvSpPr>
        <p:spPr>
          <a:xfrm>
            <a:off x="4846320" y="3977640"/>
            <a:ext cx="38397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Cashiers (5)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5"/>
          <p:cNvSpPr/>
          <p:nvPr/>
        </p:nvSpPr>
        <p:spPr>
          <a:xfrm>
            <a:off x="4846320" y="4297680"/>
            <a:ext cx="383976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C1: 45 | C5: 42 | C2: 39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C4: 38 | C3: 35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E945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274320" y="73080"/>
            <a:ext cx="8594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3. Revenue Analysis — By Location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274320" y="777240"/>
            <a:ext cx="4754160" cy="2285280"/>
          </a:xfrm>
          <a:prstGeom prst="rect">
            <a:avLst/>
          </a:prstGeom>
          <a:solidFill>
            <a:srgbClr val="0F34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3"/>
          <p:cNvSpPr/>
          <p:nvPr/>
        </p:nvSpPr>
        <p:spPr>
          <a:xfrm>
            <a:off x="365760" y="850320"/>
            <a:ext cx="4571280" cy="21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r_from_d = df[df["Location"] == "Store D"]["TotalPrice"].sum()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print("Revenue from Store D:", r_from_d)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r_each_l = df.groupby("Location")["TotalPrice"].sum()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print("Revenue from each location:", r_each_l)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# Bar chart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r_each_l_graph = df.groupby("Location")["TotalPrice"].sum()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r_each_l_graph.plot(kind="bar")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4"/>
          <p:cNvSpPr/>
          <p:nvPr/>
        </p:nvSpPr>
        <p:spPr>
          <a:xfrm>
            <a:off x="5212080" y="822960"/>
            <a:ext cx="1736640" cy="95940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5"/>
          <p:cNvSpPr/>
          <p:nvPr/>
        </p:nvSpPr>
        <p:spPr>
          <a:xfrm>
            <a:off x="5303520" y="896040"/>
            <a:ext cx="1553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Store A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6"/>
          <p:cNvSpPr/>
          <p:nvPr/>
        </p:nvSpPr>
        <p:spPr>
          <a:xfrm>
            <a:off x="5303520" y="1261800"/>
            <a:ext cx="1553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₹36,979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7"/>
          <p:cNvSpPr/>
          <p:nvPr/>
        </p:nvSpPr>
        <p:spPr>
          <a:xfrm>
            <a:off x="7086600" y="822960"/>
            <a:ext cx="1736640" cy="95940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8"/>
          <p:cNvSpPr/>
          <p:nvPr/>
        </p:nvSpPr>
        <p:spPr>
          <a:xfrm>
            <a:off x="7178040" y="896040"/>
            <a:ext cx="1553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Store B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9"/>
          <p:cNvSpPr/>
          <p:nvPr/>
        </p:nvSpPr>
        <p:spPr>
          <a:xfrm>
            <a:off x="7178040" y="1261800"/>
            <a:ext cx="1553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₹46,201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0"/>
          <p:cNvSpPr/>
          <p:nvPr/>
        </p:nvSpPr>
        <p:spPr>
          <a:xfrm>
            <a:off x="5212080" y="1920240"/>
            <a:ext cx="1736640" cy="9594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5303520" y="1993320"/>
            <a:ext cx="1553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Store C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2"/>
          <p:cNvSpPr/>
          <p:nvPr/>
        </p:nvSpPr>
        <p:spPr>
          <a:xfrm>
            <a:off x="5303520" y="2359080"/>
            <a:ext cx="1553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₹82,530 🏆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13"/>
          <p:cNvSpPr/>
          <p:nvPr/>
        </p:nvSpPr>
        <p:spPr>
          <a:xfrm>
            <a:off x="7086600" y="1920240"/>
            <a:ext cx="1736640" cy="95940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4"/>
          <p:cNvSpPr/>
          <p:nvPr/>
        </p:nvSpPr>
        <p:spPr>
          <a:xfrm>
            <a:off x="7178040" y="1993320"/>
            <a:ext cx="1553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Store 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5"/>
          <p:cNvSpPr/>
          <p:nvPr/>
        </p:nvSpPr>
        <p:spPr>
          <a:xfrm>
            <a:off x="7178040" y="2359080"/>
            <a:ext cx="155376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₹54,490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6"/>
          <p:cNvSpPr/>
          <p:nvPr/>
        </p:nvSpPr>
        <p:spPr>
          <a:xfrm>
            <a:off x="5212080" y="3063240"/>
            <a:ext cx="3656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Total Revenue: ₹2,20,200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17"/>
          <p:cNvSpPr/>
          <p:nvPr/>
        </p:nvSpPr>
        <p:spPr>
          <a:xfrm>
            <a:off x="274320" y="3200400"/>
            <a:ext cx="2697120" cy="1645200"/>
          </a:xfrm>
          <a:prstGeom prst="rect">
            <a:avLst/>
          </a:prstGeom>
          <a:solidFill>
            <a:srgbClr val="16213E"/>
          </a:solidFill>
          <a:ln w="1270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18"/>
          <p:cNvSpPr/>
          <p:nvPr/>
        </p:nvSpPr>
        <p:spPr>
          <a:xfrm>
            <a:off x="457200" y="3273480"/>
            <a:ext cx="82288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94560"/>
                </a:solidFill>
                <a:effectLst/>
                <a:uFillTx/>
                <a:latin typeface="Courier New"/>
                <a:ea typeface="Courier New"/>
              </a:rPr>
              <a:t>Output: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457200" y="3566160"/>
            <a:ext cx="8228880" cy="11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Revenue from Store D: 54490.08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Location | Store A: 36979.24 | 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Store B: 46201.25 |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 Store C: 82529.80 |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 Store D: 54490.08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7" name=""/>
          <p:cNvPicPr/>
          <p:nvPr/>
        </p:nvPicPr>
        <p:blipFill>
          <a:blip r:embed="rId1"/>
          <a:stretch/>
        </p:blipFill>
        <p:spPr>
          <a:xfrm>
            <a:off x="274320" y="3200400"/>
            <a:ext cx="4754520" cy="1942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8" name=""/>
          <p:cNvPicPr/>
          <p:nvPr/>
        </p:nvPicPr>
        <p:blipFill>
          <a:blip r:embed="rId2"/>
          <a:stretch/>
        </p:blipFill>
        <p:spPr>
          <a:xfrm>
            <a:off x="5257800" y="3024000"/>
            <a:ext cx="3657240" cy="2121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E945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"/>
          <p:cNvSpPr/>
          <p:nvPr/>
        </p:nvSpPr>
        <p:spPr>
          <a:xfrm>
            <a:off x="274320" y="73080"/>
            <a:ext cx="8594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4. Revenue Analysis — By Product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2"/>
          <p:cNvSpPr/>
          <p:nvPr/>
        </p:nvSpPr>
        <p:spPr>
          <a:xfrm>
            <a:off x="274320" y="777240"/>
            <a:ext cx="4937040" cy="1919520"/>
          </a:xfrm>
          <a:prstGeom prst="rect">
            <a:avLst/>
          </a:prstGeom>
          <a:solidFill>
            <a:srgbClr val="0F34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365760" y="850320"/>
            <a:ext cx="4754160" cy="177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tablet_rev  = df[df["Product"]=="Tablet"]["TotalPrice"].sum()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printer_rev = df[df["Product"]=="Printer"]["TotalPrice"].sum()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phone_rev   = df[df["Product"]=="Phone"]["TotalPrice"].sum()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# ... (similar for all products)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r_each_p = df.groupby("Product")["TotalPrice"].sum()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print("Revenue per product:", r_each_p)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4"/>
          <p:cNvSpPr/>
          <p:nvPr/>
        </p:nvSpPr>
        <p:spPr>
          <a:xfrm>
            <a:off x="5394960" y="804600"/>
            <a:ext cx="1690920" cy="82224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5"/>
          <p:cNvSpPr/>
          <p:nvPr/>
        </p:nvSpPr>
        <p:spPr>
          <a:xfrm>
            <a:off x="5440680" y="85968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Chair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6"/>
          <p:cNvSpPr/>
          <p:nvPr/>
        </p:nvSpPr>
        <p:spPr>
          <a:xfrm>
            <a:off x="5440680" y="1152000"/>
            <a:ext cx="1599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₹15,525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7"/>
          <p:cNvSpPr/>
          <p:nvPr/>
        </p:nvSpPr>
        <p:spPr>
          <a:xfrm>
            <a:off x="7269480" y="804600"/>
            <a:ext cx="1690920" cy="82224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8"/>
          <p:cNvSpPr/>
          <p:nvPr/>
        </p:nvSpPr>
        <p:spPr>
          <a:xfrm>
            <a:off x="7315200" y="85968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Desk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9"/>
          <p:cNvSpPr/>
          <p:nvPr/>
        </p:nvSpPr>
        <p:spPr>
          <a:xfrm>
            <a:off x="7315200" y="1152000"/>
            <a:ext cx="1599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₹39,519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10"/>
          <p:cNvSpPr/>
          <p:nvPr/>
        </p:nvSpPr>
        <p:spPr>
          <a:xfrm>
            <a:off x="5394960" y="1764720"/>
            <a:ext cx="1690920" cy="82224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1"/>
          <p:cNvSpPr/>
          <p:nvPr/>
        </p:nvSpPr>
        <p:spPr>
          <a:xfrm>
            <a:off x="5440680" y="181980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Laptop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2"/>
          <p:cNvSpPr/>
          <p:nvPr/>
        </p:nvSpPr>
        <p:spPr>
          <a:xfrm>
            <a:off x="5440680" y="2112120"/>
            <a:ext cx="1599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₹34,614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13"/>
          <p:cNvSpPr/>
          <p:nvPr/>
        </p:nvSpPr>
        <p:spPr>
          <a:xfrm>
            <a:off x="7269480" y="1764720"/>
            <a:ext cx="1690920" cy="82224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4"/>
          <p:cNvSpPr/>
          <p:nvPr/>
        </p:nvSpPr>
        <p:spPr>
          <a:xfrm>
            <a:off x="7315200" y="181980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Monitor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15"/>
          <p:cNvSpPr/>
          <p:nvPr/>
        </p:nvSpPr>
        <p:spPr>
          <a:xfrm>
            <a:off x="7315200" y="2112120"/>
            <a:ext cx="1599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₹39,150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16"/>
          <p:cNvSpPr/>
          <p:nvPr/>
        </p:nvSpPr>
        <p:spPr>
          <a:xfrm>
            <a:off x="5394960" y="2724840"/>
            <a:ext cx="1690920" cy="82224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Text 17"/>
          <p:cNvSpPr/>
          <p:nvPr/>
        </p:nvSpPr>
        <p:spPr>
          <a:xfrm>
            <a:off x="5440680" y="277992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Phone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8"/>
          <p:cNvSpPr/>
          <p:nvPr/>
        </p:nvSpPr>
        <p:spPr>
          <a:xfrm>
            <a:off x="5440680" y="3072240"/>
            <a:ext cx="1599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₹39,973 🏆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19"/>
          <p:cNvSpPr/>
          <p:nvPr/>
        </p:nvSpPr>
        <p:spPr>
          <a:xfrm>
            <a:off x="7269480" y="2724840"/>
            <a:ext cx="1690920" cy="82224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20"/>
          <p:cNvSpPr/>
          <p:nvPr/>
        </p:nvSpPr>
        <p:spPr>
          <a:xfrm>
            <a:off x="7315200" y="277992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Printer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1"/>
          <p:cNvSpPr/>
          <p:nvPr/>
        </p:nvSpPr>
        <p:spPr>
          <a:xfrm>
            <a:off x="7315200" y="3072240"/>
            <a:ext cx="1599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₹37,267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2"/>
          <p:cNvSpPr/>
          <p:nvPr/>
        </p:nvSpPr>
        <p:spPr>
          <a:xfrm>
            <a:off x="6309360" y="3684960"/>
            <a:ext cx="1690920" cy="82224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6355080" y="374004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Tablet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24"/>
          <p:cNvSpPr/>
          <p:nvPr/>
        </p:nvSpPr>
        <p:spPr>
          <a:xfrm>
            <a:off x="6355080" y="4032360"/>
            <a:ext cx="159948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₹14,154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5"/>
          <p:cNvSpPr/>
          <p:nvPr/>
        </p:nvSpPr>
        <p:spPr>
          <a:xfrm>
            <a:off x="274320" y="2880360"/>
            <a:ext cx="4754160" cy="2010960"/>
          </a:xfrm>
          <a:prstGeom prst="rect">
            <a:avLst/>
          </a:prstGeom>
          <a:solidFill>
            <a:srgbClr val="16213E"/>
          </a:solidFill>
          <a:ln w="1270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26"/>
          <p:cNvSpPr/>
          <p:nvPr/>
        </p:nvSpPr>
        <p:spPr>
          <a:xfrm>
            <a:off x="457200" y="2944440"/>
            <a:ext cx="4388400" cy="25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E94560"/>
                </a:solidFill>
                <a:effectLst/>
                <a:uFillTx/>
                <a:latin typeface="Courier New"/>
                <a:ea typeface="Courier New"/>
              </a:rPr>
              <a:t>Output: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7"/>
          <p:cNvSpPr/>
          <p:nvPr/>
        </p:nvSpPr>
        <p:spPr>
          <a:xfrm>
            <a:off x="457200" y="3227760"/>
            <a:ext cx="4388400" cy="15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Product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Chair    15524.54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Desk     39519.04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Laptop   34613.89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Monitor  39149.59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Phone    39972.89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Printer  37266.78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Tablet   14153.64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E945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"/>
          <p:cNvSpPr/>
          <p:nvPr/>
        </p:nvSpPr>
        <p:spPr>
          <a:xfrm>
            <a:off x="274320" y="73080"/>
            <a:ext cx="8594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5. Revenue — Location × Product Breakdown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Shape 2"/>
          <p:cNvSpPr/>
          <p:nvPr/>
        </p:nvSpPr>
        <p:spPr>
          <a:xfrm>
            <a:off x="274320" y="777240"/>
            <a:ext cx="8594640" cy="822240"/>
          </a:xfrm>
          <a:prstGeom prst="rect">
            <a:avLst/>
          </a:prstGeom>
          <a:solidFill>
            <a:srgbClr val="0F34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"/>
          <p:cNvSpPr/>
          <p:nvPr/>
        </p:nvSpPr>
        <p:spPr>
          <a:xfrm>
            <a:off x="365760" y="850320"/>
            <a:ext cx="8411760" cy="6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revenue = df.groupby(["Location", "Product"])["TotalPrice"].sum()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print("Revenue per location per product:", revenue)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1" name="Table 0"/>
          <p:cNvGraphicFramePr/>
          <p:nvPr/>
        </p:nvGraphicFramePr>
        <p:xfrm>
          <a:off x="4572000" y="2057400"/>
          <a:ext cx="4296240" cy="2834280"/>
        </p:xfrm>
        <a:graphic>
          <a:graphicData uri="http://schemas.openxmlformats.org/drawingml/2006/table">
            <a:tbl>
              <a:tblPr/>
              <a:tblGrid>
                <a:gridCol w="823320"/>
                <a:gridCol w="503280"/>
                <a:gridCol w="503280"/>
                <a:gridCol w="503280"/>
                <a:gridCol w="503280"/>
                <a:gridCol w="503280"/>
                <a:gridCol w="503280"/>
                <a:gridCol w="453600"/>
              </a:tblGrid>
              <a:tr h="567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Location / Product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E945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Chair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E945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Desk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E945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Laptop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E945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Monitor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E945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Phone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E945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Printer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E945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Tablet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E94560"/>
                    </a:solidFill>
                  </a:tcPr>
                </a:tc>
              </a:tr>
              <a:tr h="567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Store A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2858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8818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2583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7547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7011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4772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3391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</a:tr>
              <a:tr h="567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Store B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2747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3854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8416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14162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8600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8386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36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</a:tr>
              <a:tr h="5670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Store C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4272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14914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18784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12182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15129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11274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5975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</a:tr>
              <a:tr h="5662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Store D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5647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11933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4832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5259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9233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12835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8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4752</a:t>
                      </a:r>
                      <a:endParaRPr lang="en-US" sz="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</a:tr>
            </a:tbl>
          </a:graphicData>
        </a:graphic>
      </p:graphicFrame>
      <p:pic>
        <p:nvPicPr>
          <p:cNvPr id="102" name=""/>
          <p:cNvPicPr/>
          <p:nvPr/>
        </p:nvPicPr>
        <p:blipFill>
          <a:blip r:embed="rId1"/>
          <a:stretch/>
        </p:blipFill>
        <p:spPr>
          <a:xfrm>
            <a:off x="0" y="685800"/>
            <a:ext cx="9143280" cy="1371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3" name=""/>
          <p:cNvPicPr/>
          <p:nvPr/>
        </p:nvPicPr>
        <p:blipFill>
          <a:blip r:embed="rId2"/>
          <a:stretch/>
        </p:blipFill>
        <p:spPr>
          <a:xfrm>
            <a:off x="0" y="2057400"/>
            <a:ext cx="4571640" cy="3085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E945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274320" y="73080"/>
            <a:ext cx="8594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6. Payment Type Analysis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274320" y="777240"/>
            <a:ext cx="4845600" cy="2742480"/>
          </a:xfrm>
          <a:prstGeom prst="rect">
            <a:avLst/>
          </a:prstGeom>
          <a:solidFill>
            <a:srgbClr val="0F34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3"/>
          <p:cNvSpPr/>
          <p:nvPr/>
        </p:nvSpPr>
        <p:spPr>
          <a:xfrm>
            <a:off x="365760" y="850320"/>
            <a:ext cx="4662720" cy="259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print("Payment types:", df["PaymentType"].unique())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print("Count per type:", df["PaymentType"].value_counts())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loc_pay = df.groupby(["Location","PaymentType"])["TotalPrice"].sum()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print(loc_pay)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loc_pay_cnt = df.groupby(["Location","PaymentType"]).size()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loc_pay_cnt.unstack().plot(kind="bar")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plt.ylabel("Count of Payment Type")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plt.title("Payment Type Count per Store")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plt.show()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4"/>
          <p:cNvSpPr/>
          <p:nvPr/>
        </p:nvSpPr>
        <p:spPr>
          <a:xfrm>
            <a:off x="5303520" y="841320"/>
            <a:ext cx="3656880" cy="410760"/>
          </a:xfrm>
          <a:prstGeom prst="rect">
            <a:avLst/>
          </a:prstGeom>
          <a:solidFill>
            <a:srgbClr val="16213E"/>
          </a:solidFill>
          <a:ln w="63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5"/>
          <p:cNvSpPr/>
          <p:nvPr/>
        </p:nvSpPr>
        <p:spPr>
          <a:xfrm>
            <a:off x="5303520" y="841320"/>
            <a:ext cx="109080" cy="410760"/>
          </a:xfrm>
          <a:prstGeom prst="rect">
            <a:avLst/>
          </a:prstGeom>
          <a:solidFill>
            <a:srgbClr val="E945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5486400" y="90540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Gift Card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7"/>
          <p:cNvSpPr/>
          <p:nvPr/>
        </p:nvSpPr>
        <p:spPr>
          <a:xfrm>
            <a:off x="7772400" y="90540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8"/>
          <p:cNvSpPr/>
          <p:nvPr/>
        </p:nvSpPr>
        <p:spPr>
          <a:xfrm>
            <a:off x="5303520" y="1344240"/>
            <a:ext cx="3656880" cy="410760"/>
          </a:xfrm>
          <a:prstGeom prst="rect">
            <a:avLst/>
          </a:prstGeom>
          <a:solidFill>
            <a:srgbClr val="16213E"/>
          </a:solidFill>
          <a:ln w="63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Shape 9"/>
          <p:cNvSpPr/>
          <p:nvPr/>
        </p:nvSpPr>
        <p:spPr>
          <a:xfrm>
            <a:off x="5303520" y="1344240"/>
            <a:ext cx="109080" cy="410760"/>
          </a:xfrm>
          <a:prstGeom prst="rect">
            <a:avLst/>
          </a:prstGeom>
          <a:solidFill>
            <a:srgbClr val="3B82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0"/>
          <p:cNvSpPr/>
          <p:nvPr/>
        </p:nvSpPr>
        <p:spPr>
          <a:xfrm>
            <a:off x="5486400" y="140832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Debit Card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1"/>
          <p:cNvSpPr/>
          <p:nvPr/>
        </p:nvSpPr>
        <p:spPr>
          <a:xfrm>
            <a:off x="7772400" y="140832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3B82F6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2"/>
          <p:cNvSpPr/>
          <p:nvPr/>
        </p:nvSpPr>
        <p:spPr>
          <a:xfrm>
            <a:off x="5303520" y="1847160"/>
            <a:ext cx="3656880" cy="410760"/>
          </a:xfrm>
          <a:prstGeom prst="rect">
            <a:avLst/>
          </a:prstGeom>
          <a:solidFill>
            <a:srgbClr val="16213E"/>
          </a:solidFill>
          <a:ln w="63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Shape 13"/>
          <p:cNvSpPr/>
          <p:nvPr/>
        </p:nvSpPr>
        <p:spPr>
          <a:xfrm>
            <a:off x="5303520" y="1847160"/>
            <a:ext cx="109080" cy="41076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 14"/>
          <p:cNvSpPr/>
          <p:nvPr/>
        </p:nvSpPr>
        <p:spPr>
          <a:xfrm>
            <a:off x="5486400" y="191124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Credit Card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5"/>
          <p:cNvSpPr/>
          <p:nvPr/>
        </p:nvSpPr>
        <p:spPr>
          <a:xfrm>
            <a:off x="7772400" y="191124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0B981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16"/>
          <p:cNvSpPr/>
          <p:nvPr/>
        </p:nvSpPr>
        <p:spPr>
          <a:xfrm>
            <a:off x="5303520" y="2350080"/>
            <a:ext cx="3656880" cy="410760"/>
          </a:xfrm>
          <a:prstGeom prst="rect">
            <a:avLst/>
          </a:prstGeom>
          <a:solidFill>
            <a:srgbClr val="16213E"/>
          </a:solidFill>
          <a:ln w="63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7"/>
          <p:cNvSpPr/>
          <p:nvPr/>
        </p:nvSpPr>
        <p:spPr>
          <a:xfrm>
            <a:off x="5303520" y="2350080"/>
            <a:ext cx="109080" cy="41076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8"/>
          <p:cNvSpPr/>
          <p:nvPr/>
        </p:nvSpPr>
        <p:spPr>
          <a:xfrm>
            <a:off x="5486400" y="241416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Online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9"/>
          <p:cNvSpPr/>
          <p:nvPr/>
        </p:nvSpPr>
        <p:spPr>
          <a:xfrm>
            <a:off x="7772400" y="241416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59E0B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0"/>
          <p:cNvSpPr/>
          <p:nvPr/>
        </p:nvSpPr>
        <p:spPr>
          <a:xfrm>
            <a:off x="5303520" y="2853000"/>
            <a:ext cx="3656880" cy="410760"/>
          </a:xfrm>
          <a:prstGeom prst="rect">
            <a:avLst/>
          </a:prstGeom>
          <a:solidFill>
            <a:srgbClr val="16213E"/>
          </a:solidFill>
          <a:ln w="635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1"/>
          <p:cNvSpPr/>
          <p:nvPr/>
        </p:nvSpPr>
        <p:spPr>
          <a:xfrm>
            <a:off x="5303520" y="2853000"/>
            <a:ext cx="109080" cy="41076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2"/>
          <p:cNvSpPr/>
          <p:nvPr/>
        </p:nvSpPr>
        <p:spPr>
          <a:xfrm>
            <a:off x="5486400" y="2917080"/>
            <a:ext cx="20109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Cash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23"/>
          <p:cNvSpPr/>
          <p:nvPr/>
        </p:nvSpPr>
        <p:spPr>
          <a:xfrm>
            <a:off x="7772400" y="2917080"/>
            <a:ext cx="109656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B5CF6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24"/>
          <p:cNvSpPr/>
          <p:nvPr/>
        </p:nvSpPr>
        <p:spPr>
          <a:xfrm>
            <a:off x="5303520" y="3566160"/>
            <a:ext cx="3656880" cy="1370880"/>
          </a:xfrm>
          <a:prstGeom prst="rect">
            <a:avLst/>
          </a:prstGeom>
          <a:solidFill>
            <a:srgbClr val="16213E"/>
          </a:solidFill>
          <a:ln w="1270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5"/>
          <p:cNvSpPr/>
          <p:nvPr/>
        </p:nvSpPr>
        <p:spPr>
          <a:xfrm>
            <a:off x="5394960" y="3639240"/>
            <a:ext cx="3474000" cy="123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Bar chart plotted: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Payment Type Count per Store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(grouped bar showing each payment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method across all 4 locations)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0" name=""/>
          <p:cNvPicPr/>
          <p:nvPr/>
        </p:nvPicPr>
        <p:blipFill>
          <a:blip r:embed="rId1"/>
          <a:stretch/>
        </p:blipFill>
        <p:spPr>
          <a:xfrm>
            <a:off x="123120" y="797400"/>
            <a:ext cx="4996800" cy="42314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E945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1"/>
          <p:cNvSpPr/>
          <p:nvPr/>
        </p:nvSpPr>
        <p:spPr>
          <a:xfrm>
            <a:off x="274320" y="73080"/>
            <a:ext cx="8594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7. Store Manager Analysis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274320" y="777240"/>
            <a:ext cx="4845600" cy="2833920"/>
          </a:xfrm>
          <a:prstGeom prst="rect">
            <a:avLst/>
          </a:prstGeom>
          <a:solidFill>
            <a:srgbClr val="0F34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3"/>
          <p:cNvSpPr/>
          <p:nvPr/>
        </p:nvSpPr>
        <p:spPr>
          <a:xfrm>
            <a:off x="365760" y="850320"/>
            <a:ext cx="4662720" cy="268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storemanager_names = df["StoreManager"].unique()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print("COUNT:", len(storemanager_names))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val_of_each = df["StoreManager"].value_counts()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grp_cashier_mgr = df.groupby(["Cashier","StoreManager"]).size()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print(grp_cashier_mgr)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# Bar chart: cashier vs manager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grp.unstack().plot(kind="bar")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plt.title("Cashier group with manager")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plt.ylabel("Count of cashier with different store manager")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plt.show()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Shape 4"/>
          <p:cNvSpPr/>
          <p:nvPr/>
        </p:nvSpPr>
        <p:spPr>
          <a:xfrm>
            <a:off x="5303520" y="822960"/>
            <a:ext cx="3656880" cy="86796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5"/>
          <p:cNvSpPr/>
          <p:nvPr/>
        </p:nvSpPr>
        <p:spPr>
          <a:xfrm>
            <a:off x="5440680" y="887040"/>
            <a:ext cx="1645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Noah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5440680" y="1234440"/>
            <a:ext cx="1828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53 transactions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7223760" y="1051560"/>
            <a:ext cx="16452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₹59,357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8"/>
          <p:cNvSpPr/>
          <p:nvPr/>
        </p:nvSpPr>
        <p:spPr>
          <a:xfrm>
            <a:off x="5303520" y="1828800"/>
            <a:ext cx="3656880" cy="86796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5440680" y="1892880"/>
            <a:ext cx="1645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Olivia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10"/>
          <p:cNvSpPr/>
          <p:nvPr/>
        </p:nvSpPr>
        <p:spPr>
          <a:xfrm>
            <a:off x="5440680" y="2240280"/>
            <a:ext cx="1828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53 transactions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1"/>
          <p:cNvSpPr/>
          <p:nvPr/>
        </p:nvSpPr>
        <p:spPr>
          <a:xfrm>
            <a:off x="7223760" y="2057400"/>
            <a:ext cx="16452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₹53,575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12"/>
          <p:cNvSpPr/>
          <p:nvPr/>
        </p:nvSpPr>
        <p:spPr>
          <a:xfrm>
            <a:off x="5303520" y="2834640"/>
            <a:ext cx="3656880" cy="86796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5440680" y="2898720"/>
            <a:ext cx="1645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Mia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440680" y="3246120"/>
            <a:ext cx="1828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47 transactions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5"/>
          <p:cNvSpPr/>
          <p:nvPr/>
        </p:nvSpPr>
        <p:spPr>
          <a:xfrm>
            <a:off x="7223760" y="3063240"/>
            <a:ext cx="16452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₹55,876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Shape 16"/>
          <p:cNvSpPr/>
          <p:nvPr/>
        </p:nvSpPr>
        <p:spPr>
          <a:xfrm>
            <a:off x="5303520" y="3840480"/>
            <a:ext cx="3656880" cy="86796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7"/>
          <p:cNvSpPr/>
          <p:nvPr/>
        </p:nvSpPr>
        <p:spPr>
          <a:xfrm>
            <a:off x="5440680" y="3904560"/>
            <a:ext cx="16452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Liam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8"/>
          <p:cNvSpPr/>
          <p:nvPr/>
        </p:nvSpPr>
        <p:spPr>
          <a:xfrm>
            <a:off x="5440680" y="4251960"/>
            <a:ext cx="18280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46 transactions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9"/>
          <p:cNvSpPr/>
          <p:nvPr/>
        </p:nvSpPr>
        <p:spPr>
          <a:xfrm>
            <a:off x="7223760" y="4069080"/>
            <a:ext cx="16452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₹51,393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1" name=""/>
          <p:cNvPicPr/>
          <p:nvPr/>
        </p:nvPicPr>
        <p:blipFill>
          <a:blip r:embed="rId1"/>
          <a:stretch/>
        </p:blipFill>
        <p:spPr>
          <a:xfrm>
            <a:off x="0" y="790920"/>
            <a:ext cx="5119920" cy="3552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E945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1"/>
          <p:cNvSpPr/>
          <p:nvPr/>
        </p:nvSpPr>
        <p:spPr>
          <a:xfrm>
            <a:off x="274320" y="73080"/>
            <a:ext cx="8594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8. Summary Statistics &amp; Pivot Table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2"/>
          <p:cNvSpPr/>
          <p:nvPr/>
        </p:nvSpPr>
        <p:spPr>
          <a:xfrm>
            <a:off x="274320" y="777240"/>
            <a:ext cx="4845600" cy="3016800"/>
          </a:xfrm>
          <a:prstGeom prst="rect">
            <a:avLst/>
          </a:prstGeom>
          <a:solidFill>
            <a:srgbClr val="0F3460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3"/>
          <p:cNvSpPr/>
          <p:nvPr/>
        </p:nvSpPr>
        <p:spPr>
          <a:xfrm>
            <a:off x="365760" y="850320"/>
            <a:ext cx="4662720" cy="287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summary = df.groupby("StoreManager").agg(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    Total_Sales=("TotalPrice", "sum"),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    Avg_Sale=("TotalPrice", "mean"),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    Number_of_Transactions=("TotalPrice", "count")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pivot = df.pivot_table(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    index="StoreManager",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    columns="Product",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    values="TotalPrice",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    aggfunc="sum",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    margins=True,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    margins_name="Total_All_Products"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print(summary)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E2E8F0"/>
                </a:solidFill>
                <a:effectLst/>
                <a:uFillTx/>
                <a:latin typeface="Courier New"/>
                <a:ea typeface="Courier New"/>
              </a:rPr>
              <a:t>print(pivot)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6" name="Table 0"/>
          <p:cNvGraphicFramePr/>
          <p:nvPr/>
        </p:nvGraphicFramePr>
        <p:xfrm>
          <a:off x="5303520" y="822960"/>
          <a:ext cx="3657240" cy="2286000"/>
        </p:xfrm>
        <a:graphic>
          <a:graphicData uri="http://schemas.openxmlformats.org/drawingml/2006/table">
            <a:tbl>
              <a:tblPr/>
              <a:tblGrid>
                <a:gridCol w="1005840"/>
                <a:gridCol w="1097280"/>
                <a:gridCol w="1005840"/>
                <a:gridCol w="54864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Manager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E945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Total Sales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E945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Avg Sale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E9456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# Txns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E94560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Liam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51392.69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1117.23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46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Mia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55876.13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1188.85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47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Noah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59356.69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1119.94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53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6213E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Olivia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53574.86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1010.85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53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6480">
                      <a:solidFill>
                        <a:srgbClr val="4A5568"/>
                      </a:solidFill>
                      <a:prstDash val="solid"/>
                    </a:lnL>
                    <a:lnR w="6480">
                      <a:solidFill>
                        <a:srgbClr val="4A5568"/>
                      </a:solidFill>
                      <a:prstDash val="solid"/>
                    </a:lnR>
                    <a:lnT w="6480">
                      <a:solidFill>
                        <a:srgbClr val="4A5568"/>
                      </a:solidFill>
                      <a:prstDash val="solid"/>
                    </a:lnT>
                    <a:lnB w="6480">
                      <a:solidFill>
                        <a:srgbClr val="4A5568"/>
                      </a:solidFill>
                      <a:prstDash val="solid"/>
                    </a:lnB>
                    <a:solidFill>
                      <a:srgbClr val="1A2940"/>
                    </a:solidFill>
                  </a:tcPr>
                </a:tc>
              </a:tr>
            </a:tbl>
          </a:graphicData>
        </a:graphic>
      </p:graphicFrame>
      <p:sp>
        <p:nvSpPr>
          <p:cNvPr id="157" name="Shape 4"/>
          <p:cNvSpPr/>
          <p:nvPr/>
        </p:nvSpPr>
        <p:spPr>
          <a:xfrm>
            <a:off x="5303520" y="3246120"/>
            <a:ext cx="3656880" cy="1645200"/>
          </a:xfrm>
          <a:prstGeom prst="rect">
            <a:avLst/>
          </a:prstGeom>
          <a:solidFill>
            <a:srgbClr val="16213E"/>
          </a:solidFill>
          <a:ln w="12700">
            <a:solidFill>
              <a:srgbClr val="4A556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5"/>
          <p:cNvSpPr/>
          <p:nvPr/>
        </p:nvSpPr>
        <p:spPr>
          <a:xfrm>
            <a:off x="5440680" y="3337560"/>
            <a:ext cx="3382560" cy="146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Pie chart (store manager sales)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and bar charts generated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showing distribution of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B2D8"/>
                </a:solidFill>
                <a:effectLst/>
                <a:uFillTx/>
                <a:latin typeface="Calibri"/>
                <a:ea typeface="Calibri"/>
              </a:rPr>
              <a:t>revenue across managers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9" name=""/>
          <p:cNvPicPr/>
          <p:nvPr/>
        </p:nvPicPr>
        <p:blipFill>
          <a:blip r:embed="rId1"/>
          <a:stretch/>
        </p:blipFill>
        <p:spPr>
          <a:xfrm>
            <a:off x="228600" y="800280"/>
            <a:ext cx="4891320" cy="3999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0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E9456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1"/>
          <p:cNvSpPr/>
          <p:nvPr/>
        </p:nvSpPr>
        <p:spPr>
          <a:xfrm>
            <a:off x="274320" y="73080"/>
            <a:ext cx="8594640" cy="54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Key Insights &amp; Summary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2"/>
          <p:cNvSpPr/>
          <p:nvPr/>
        </p:nvSpPr>
        <p:spPr>
          <a:xfrm>
            <a:off x="274320" y="822960"/>
            <a:ext cx="4114080" cy="123372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3"/>
          <p:cNvSpPr/>
          <p:nvPr/>
        </p:nvSpPr>
        <p:spPr>
          <a:xfrm>
            <a:off x="411480" y="91440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🏪 Top Location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4"/>
          <p:cNvSpPr/>
          <p:nvPr/>
        </p:nvSpPr>
        <p:spPr>
          <a:xfrm>
            <a:off x="411480" y="1280160"/>
            <a:ext cx="38397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Store C generated highest revenue (₹82,530) — 37.5% of total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5"/>
          <p:cNvSpPr/>
          <p:nvPr/>
        </p:nvSpPr>
        <p:spPr>
          <a:xfrm>
            <a:off x="4709160" y="822960"/>
            <a:ext cx="4114080" cy="123372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6"/>
          <p:cNvSpPr/>
          <p:nvPr/>
        </p:nvSpPr>
        <p:spPr>
          <a:xfrm>
            <a:off x="4846320" y="91440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📦 Top Product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7"/>
          <p:cNvSpPr/>
          <p:nvPr/>
        </p:nvSpPr>
        <p:spPr>
          <a:xfrm>
            <a:off x="4846320" y="1280160"/>
            <a:ext cx="38397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Phone had highest revenue (₹39,973); Tablet was lowest (₹14,154)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8"/>
          <p:cNvSpPr/>
          <p:nvPr/>
        </p:nvSpPr>
        <p:spPr>
          <a:xfrm>
            <a:off x="274320" y="2194560"/>
            <a:ext cx="4114080" cy="123372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9"/>
          <p:cNvSpPr/>
          <p:nvPr/>
        </p:nvSpPr>
        <p:spPr>
          <a:xfrm>
            <a:off x="411480" y="228600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💳 Payment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0"/>
          <p:cNvSpPr/>
          <p:nvPr/>
        </p:nvSpPr>
        <p:spPr>
          <a:xfrm>
            <a:off x="411480" y="2651760"/>
            <a:ext cx="38397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Gift Card was most popular (49 uses); Cash was least used (29)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11"/>
          <p:cNvSpPr/>
          <p:nvPr/>
        </p:nvSpPr>
        <p:spPr>
          <a:xfrm>
            <a:off x="4709160" y="2194560"/>
            <a:ext cx="4114080" cy="123372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12"/>
          <p:cNvSpPr/>
          <p:nvPr/>
        </p:nvSpPr>
        <p:spPr>
          <a:xfrm>
            <a:off x="4846320" y="228600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👨‍💼 Top Manager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13"/>
          <p:cNvSpPr/>
          <p:nvPr/>
        </p:nvSpPr>
        <p:spPr>
          <a:xfrm>
            <a:off x="4846320" y="2651760"/>
            <a:ext cx="38397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Noah led in transactions (53) with ₹59,357 total revenue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4"/>
          <p:cNvSpPr/>
          <p:nvPr/>
        </p:nvSpPr>
        <p:spPr>
          <a:xfrm>
            <a:off x="274320" y="3566160"/>
            <a:ext cx="4114080" cy="123372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5"/>
          <p:cNvSpPr/>
          <p:nvPr/>
        </p:nvSpPr>
        <p:spPr>
          <a:xfrm>
            <a:off x="411480" y="365760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🧾 Total Revenue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16"/>
          <p:cNvSpPr/>
          <p:nvPr/>
        </p:nvSpPr>
        <p:spPr>
          <a:xfrm>
            <a:off x="411480" y="4023360"/>
            <a:ext cx="38397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₹2,20,200 across 199 transactions from 4 stores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7"/>
          <p:cNvSpPr/>
          <p:nvPr/>
        </p:nvSpPr>
        <p:spPr>
          <a:xfrm>
            <a:off x="4709160" y="3566160"/>
            <a:ext cx="4114080" cy="1233720"/>
          </a:xfrm>
          <a:prstGeom prst="rect">
            <a:avLst/>
          </a:prstGeom>
          <a:solidFill>
            <a:srgbClr val="16213E"/>
          </a:solidFill>
          <a:ln w="12700">
            <a:solidFill>
              <a:srgbClr val="E9456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8"/>
          <p:cNvSpPr/>
          <p:nvPr/>
        </p:nvSpPr>
        <p:spPr>
          <a:xfrm>
            <a:off x="4846320" y="3657600"/>
            <a:ext cx="383976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E94560"/>
                </a:solidFill>
                <a:effectLst/>
                <a:uFillTx/>
                <a:latin typeface="Calibri"/>
                <a:ea typeface="Calibri"/>
              </a:rPr>
              <a:t>🔢 Dataset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9"/>
          <p:cNvSpPr/>
          <p:nvPr/>
        </p:nvSpPr>
        <p:spPr>
          <a:xfrm>
            <a:off x="4846320" y="4023360"/>
            <a:ext cx="38397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7 products, 4 locations, 4 managers, 5 cashiers analyzed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LibreOffice/26.2.0.3$Windows_X86_64 LibreOffice_project/620$Build-3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2026-03-30T09:05:33Z</dcterms:created>
  <dc:creator>PptxGenJS</dc:creator>
  <dc:description/>
  <dc:language>en-US</dc:language>
  <cp:lastModifiedBy/>
  <dcterms:modified xsi:type="dcterms:W3CDTF">2026-03-31T11:23:12Z</dcterms:modified>
  <cp:revision>4</cp:revision>
  <dc:subject>PptxGenJS Presentation</dc:subject>
  <dc:title>Retail Store Transaction Dataset Analysis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